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where we stand today. Q3 revenue was SGD 18.4M, gross margin 61 percent, cash SGD 64M.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Aspire as the integrated alternative. Emphasise cross-border SME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growth delivers roughly 60 percent of the revenue increase.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Vietnam approved by the board on 24 Sept 2026 with SGD 6.5M funding in two tranches.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pillar increases revenue per customer and lock-in.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Targets are subject to the final budget presentation in December.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Funding tranches are released at licence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Mitigations: third banking partner by Q1 2027, quarterly gating, risk appetite statement revised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equity raise is planned for FY2027.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asking leaders to align OKRs to the three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Aspire Strategy FY2027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ID: X03</a:t>
            </a:r>
          </a:p>
          <a:p>
            <a:r>
              <a:t>Department: Executive</a:t>
            </a:r>
          </a:p>
          <a:p>
            <a:r>
              <a:t>Owner: Sophia Lee, Chief Executive Officer</a:t>
            </a:r>
          </a:p>
          <a:p>
            <a:r>
              <a:t>Version: v1.0</a:t>
            </a:r>
          </a:p>
          <a:p>
            <a:r>
              <a:t>Effective Date: 2026-10-01</a:t>
            </a:r>
          </a:p>
          <a:p>
            <a:r>
              <a:t>Classification: Confidential</a:t>
            </a:r>
          </a:p>
          <a:p>
            <a:r>
              <a:t>Compartments: none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and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Vision: be the default financial operating system for SMEs in Southeast Asia</a:t>
            </a:r>
          </a:p>
          <a:p>
            <a:r>
              <a:t>Mission: replace fragmented banking, cards and spend tools with one account</a:t>
            </a:r>
          </a:p>
          <a:p>
            <a:r>
              <a:t>FY2026 position: 31,000 active SMEs, SGD 1.9B quarterly payment volume</a:t>
            </a:r>
          </a:p>
          <a:p>
            <a:r>
              <a:t>FY2026 revenue forecast SGD 69M; Q3 net loss narrowed to SGD 0.9M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Southeast Asia has roughly 70 million SMEs, most underserved by traditional banks</a:t>
            </a:r>
          </a:p>
          <a:p>
            <a:r>
              <a:t>Singapore, Vietnam and Indonesia SME payment flows growing 12 to 15 percent per year</a:t>
            </a:r>
          </a:p>
          <a:p>
            <a:r>
              <a:t>Regulatory tailwinds: MAS digital payments licensing, open API initiatives</a:t>
            </a:r>
          </a:p>
          <a:p>
            <a:r>
              <a:t>Competitors split between neobanks, card issuers and ERP-embedded finance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1: Deepen the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active SMEs from 31,000 to 40,000 by end FY2027</a:t>
            </a:r>
          </a:p>
          <a:p>
            <a:r>
              <a:t>Raise card spend per customer by 9 percent through spend-management bundles</a:t>
            </a:r>
          </a:p>
          <a:p>
            <a:r>
              <a:t>Increase subscription mix: Growth and Scale plans to 45 percent of subscription revenue</a:t>
            </a:r>
          </a:p>
          <a:p>
            <a:r>
              <a:t>Reduce churn below 1.2 percent per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2: Expand Regionally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in Vietnam in Q2 2027; target 2,500 SMEs by end FY2027</a:t>
            </a:r>
          </a:p>
          <a:p>
            <a:r>
              <a:t>Complete Indonesia licence preparation; launch decision at mid-2027 board</a:t>
            </a:r>
          </a:p>
          <a:p>
            <a:r>
              <a:t>Cross-border FX corridors SGD-VND and SGD-IDR</a:t>
            </a:r>
          </a:p>
          <a:p>
            <a:r>
              <a:t>Local teams in Ho Chi Minh City and Jakarta scale to 60 and 35 staff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3: Platform and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API and ERP integrations with the top five accounting platforms</a:t>
            </a:r>
          </a:p>
          <a:p>
            <a:r>
              <a:t>Partnerships with banks and marketplaces for embedded accounts</a:t>
            </a:r>
          </a:p>
          <a:p>
            <a:r>
              <a:t>Working capital lending pilot with SGD 15M capital limit</a:t>
            </a:r>
          </a:p>
          <a:p>
            <a:r>
              <a:t>SaaS and API fees to grow from SGD 6.7M to SGD 9.5M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FY2027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SGD 92M (FY2026 forecast SGD 69M, +33 percent)</a:t>
            </a:r>
          </a:p>
          <a:p>
            <a:r>
              <a:t>Opex envelope SGD 54M approved in principle by the board</a:t>
            </a:r>
          </a:p>
          <a:p>
            <a:r>
              <a:t>Gross margin 63 percent; operating profit about SGD 4M</a:t>
            </a:r>
          </a:p>
          <a:p>
            <a:r>
              <a:t>40,000 active SMEs; net headcount increase of 50 to 470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Vietnam and Indonesia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Vietnam: licence via local partner structure; launch Q2 2027; investment SGD 6.5M over 18 months</a:t>
            </a:r>
          </a:p>
          <a:p>
            <a:r>
              <a:t>Indonesia: regulatory filing H1 2027; go-live targeted H1 2028</a:t>
            </a:r>
          </a:p>
          <a:p>
            <a:r>
              <a:t>Local KYC and e-KYC integration, VND and IDR wallets</a:t>
            </a:r>
          </a:p>
          <a:p>
            <a:r>
              <a:t>Gate reviews each quarter against customer and cost milestones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Banking partner concentration: two partners at 78 percent of flows</a:t>
            </a:r>
          </a:p>
          <a:p>
            <a:r>
              <a:t>Regulatory change and licence timing in Vietnam and Indonesia</a:t>
            </a:r>
          </a:p>
          <a:p>
            <a:r>
              <a:t>Fraud and credit losses as lending pilot scales; appetite 4 bps of volume</a:t>
            </a:r>
          </a:p>
          <a:p>
            <a:r>
              <a:t>Execution risk from concurrent launches and organisational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and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FY2027 capex SGD 4.8M, mostly capitalised software</a:t>
            </a:r>
          </a:p>
          <a:p>
            <a:r>
              <a:t>Cash SGD 64M at Q3 FY2026; runway beyond 24 months at planned burn</a:t>
            </a:r>
          </a:p>
          <a:p>
            <a:r>
              <a:t>Inorganic options under review, details restricted to the board</a:t>
            </a:r>
          </a:p>
          <a:p>
            <a:r>
              <a:t>Hiring: 50 net new roles, 55 percent in Engineering and Sales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FY2027 budget to the board on 10 December 2026</a:t>
            </a:r>
          </a:p>
          <a:p>
            <a:r>
              <a:t>Vietnam programme office stands up in October 2026</a:t>
            </a:r>
          </a:p>
          <a:p>
            <a:r>
              <a:t>Quarterly strategy review with Executive Committee</a:t>
            </a:r>
          </a:p>
          <a:p>
            <a:r>
              <a:t>All-hands communication of pillars in November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