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explaining that regulators ask for evidence of training completion at every examination.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managers that reminders go out on 1 October, 1 November and 20 November.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modules in total; role-based add-ons exist for compliance and card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v3.0 policy change from 72 hours to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example of a customer asking why a payment is delayed.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the Employee Handbook sections 2 and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 to the Data Classification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late completion is reported to the Risk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Q and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Compliance Training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ID: C06</a:t>
            </a:r>
          </a:p>
          <a:p>
            <a:r>
              <a:t>Department: Compliance</a:t>
            </a:r>
          </a:p>
          <a:p>
            <a:r>
              <a:t>Owner: Grace Lim, Head of Compliance</a:t>
            </a:r>
          </a:p>
          <a:p>
            <a:r>
              <a:t>Version: v1.0</a:t>
            </a:r>
          </a:p>
          <a:p>
            <a:r>
              <a:t>Effective Date: 2026-10-01</a:t>
            </a:r>
          </a:p>
          <a:p>
            <a:r>
              <a:t>Classification: Public</a:t>
            </a:r>
          </a:p>
          <a:p>
            <a:r>
              <a:t>Compartments: 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training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Required for all staff of Aspire Demo Pte Ltd, in all three offices</a:t>
            </a:r>
          </a:p>
          <a:p>
            <a:r>
              <a:t>MAS expects regular, role-appropriate AML/CFT and conduct training</a:t>
            </a:r>
          </a:p>
          <a:p>
            <a:r>
              <a:t>Failure to complete may affect access to Aspire Core</a:t>
            </a:r>
          </a:p>
          <a:p>
            <a:r>
              <a:t>Takes about 90 minutes in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Deadlines and pass 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Mandatory every year; complete by 30 November 2026</a:t>
            </a:r>
          </a:p>
          <a:p>
            <a:r>
              <a:t>Pass mark is 80 percent on each module quiz</a:t>
            </a:r>
          </a:p>
          <a:p>
            <a:r>
              <a:t>Up to 3 attempts per quiz; then contact Compliance</a:t>
            </a:r>
          </a:p>
          <a:p>
            <a:r>
              <a:t>Completion is tracked in the learning portal and reported to managers monthly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1: AML/CFT and sanctions fundamentals</a:t>
            </a:r>
          </a:p>
          <a:p>
            <a:r>
              <a:t>Module 2: Conduct, conflicts of interest and speak-up</a:t>
            </a:r>
          </a:p>
          <a:p>
            <a:r>
              <a:t>Module 3: Data protection (PDPA) and information classification</a:t>
            </a:r>
          </a:p>
          <a:p>
            <a:r>
              <a:t>Each module has 15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AML/CFT and sanctions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tiers of due diligence: SDD, CDD, EDD</a:t>
            </a:r>
          </a:p>
          <a:p>
            <a:r>
              <a:t>UBO threshold: 25 percent ownership</a:t>
            </a:r>
          </a:p>
          <a:p>
            <a:r>
              <a:t>Sanctions lists: OFAC, UN, EU</a:t>
            </a:r>
          </a:p>
          <a:p>
            <a:r>
              <a:t>Suspected cases are escalated to the MLRO; SAR to MAS within 24 hours of determination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flags and tipping-off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Structuring: many small transfers to avoid limits</a:t>
            </a:r>
          </a:p>
          <a:p>
            <a:r>
              <a:t>Single cross-border transfers above SGD 50,000 get extra scrutiny</a:t>
            </a:r>
          </a:p>
          <a:p>
            <a:r>
              <a:t>Never tell a customer that a report has been made</a:t>
            </a:r>
          </a:p>
          <a:p>
            <a:r>
              <a:t>Use the approved holding script and refer to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Declare conflicts of interest within 5 working days</a:t>
            </a:r>
          </a:p>
          <a:p>
            <a:r>
              <a:t>Declare gifts above SGD 100</a:t>
            </a:r>
          </a:p>
          <a:p>
            <a:r>
              <a:t>Speak up via manager, Compliance or the independent hotline</a:t>
            </a:r>
          </a:p>
          <a:p>
            <a:r>
              <a:t>No retaliation against good-faith reporters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classification levels: Public, Internal, Confidential, Secret</a:t>
            </a:r>
          </a:p>
          <a:p>
            <a:r>
              <a:t>Need-to-know access and compartments</a:t>
            </a:r>
          </a:p>
          <a:p>
            <a:r>
              <a:t>Report suspected leaks within 24 hours</a:t>
            </a:r>
          </a:p>
          <a:p>
            <a:r>
              <a:t>Never paste customer data into public AI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and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Quizzes unlock after the video content is viewed</a:t>
            </a:r>
          </a:p>
          <a:p>
            <a:r>
              <a:t>Certificates are generated automatically upon pass</a:t>
            </a:r>
          </a:p>
          <a:p>
            <a:r>
              <a:t>Training records retained for at least 5 years</a:t>
            </a:r>
          </a:p>
          <a:p>
            <a:r>
              <a:t>Non-completion is escalated to the line manager and HR after 30 November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team: raise a SupportDesk ticket, category Compliance</a:t>
            </a:r>
          </a:p>
          <a:p>
            <a:r>
              <a:t>Urgent AML questions: MLRO on Aspire Hub</a:t>
            </a:r>
          </a:p>
          <a:p>
            <a:r>
              <a:t>Technical issues with the portal: SupportDesk, category IT</a:t>
            </a:r>
          </a:p>
          <a:p>
            <a:r>
              <a:t>Thank you for keeping Aspire safe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