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2B2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A2B2F"/>
                </a:solidFill>
                <a:latin typeface="+mn-lt"/>
              </a:rPr>
              <a:t>Served-context recall by iteration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Served-context recall</c:v>
                </c:pt>
              </c:strCache>
            </c:strRef>
          </c:tx>
          <c:spPr>
            <a:solidFill>
              <a:srgbClr val="13897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B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Retrieve 3</c:v>
                  </c:pt>
                  <c:pt idx="1">
                    <c:v>Retrieve 10 + neighbours</c:v>
                  </c:pt>
                  <c:pt idx="2">
                    <c:v>+ serve floor</c:v>
                  </c:pt>
                  <c:pt idx="3">
                    <c:v>Recalibrated gate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0.88</c:v>
                </c:pt>
                <c:pt idx="1">
                  <c:v>0.95</c:v>
                </c:pt>
                <c:pt idx="2">
                  <c:v>0.98</c:v>
                </c:pt>
                <c:pt idx="3">
                  <c:v>0.98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A2B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F8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8"/>
        </c:scaling>
        <c:delete val="0"/>
        <c:axPos val="l"/>
        <c:majorGridlines>
          <c:spPr>
            <a:ln w="9525" cap="flat">
              <a:solidFill>
                <a:srgbClr val="D9E4E3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F8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product in one sentence: employees ask in natural language, the system answers strictly within their permissions, and every action is audited.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2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B8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B8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Aspire Internal Brain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31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FB8AE"/>
                </a:solidFill>
              </a:rPr>
              <a:t>An RBAC-aware internal knowledge assistant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6E4"/>
                </a:solidFill>
              </a:rPr>
              <a:t>Answers only from what each employee is entitled to read — with sources, and a tamper-evident audit trail.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83"/>
                </a:solidFill>
              </a:rPr>
              <a:t>Tencent Cloud AI CAN DO IT Hackathon · Singapore 2026 · FinTech Track (Aspire)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B8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Knowledge access, safely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371600"/>
            <a:ext cx="2606040" cy="2834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-bg"/>
          <p:cNvSpPr/>
          <p:nvPr/>
        </p:nvSpPr>
        <p:spPr>
          <a:xfrm>
            <a:off x="685800" y="1600200"/>
            <a:ext cx="640080" cy="640080"/>
          </a:xfrm>
          <a:prstGeom prst="ellipse">
            <a:avLst/>
          </a:prstGeom>
          <a:solidFill>
            <a:srgbClr val="13897F"/>
          </a:solidFill>
          <a:ln w="12700">
            <a:solidFill>
              <a:srgbClr val="13897F"/>
            </a:solidFill>
            <a:prstDash val="solid"/>
          </a:ln>
        </p:spPr>
      </p:sp>
      <p:pic>
        <p:nvPicPr>
          <p:cNvPr id="5" name="icon-FaUserShiel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7602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423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Permission-first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83464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Access rules are enforced at retrieval time, so restricted text never reaches the model.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264408" y="1371600"/>
            <a:ext cx="2606040" cy="2834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-bg"/>
          <p:cNvSpPr/>
          <p:nvPr/>
        </p:nvSpPr>
        <p:spPr>
          <a:xfrm>
            <a:off x="3493008" y="1600200"/>
            <a:ext cx="640080" cy="640080"/>
          </a:xfrm>
          <a:prstGeom prst="ellipse">
            <a:avLst/>
          </a:prstGeom>
          <a:solidFill>
            <a:srgbClr val="13897F"/>
          </a:solidFill>
          <a:ln w="12700">
            <a:solidFill>
              <a:srgbClr val="13897F"/>
            </a:solidFill>
            <a:prstDash val="solid"/>
          </a:ln>
        </p:spPr>
      </p:sp>
      <p:pic>
        <p:nvPicPr>
          <p:cNvPr id="10" name="icon-FaCommentDot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028" y="17602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93008" y="2423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naturally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493008" y="283464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Type a question or upload a photo of a note. Mixed Chinese and English search, streamed answers.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071616" y="1371600"/>
            <a:ext cx="2606040" cy="2834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con-bg"/>
          <p:cNvSpPr/>
          <p:nvPr/>
        </p:nvSpPr>
        <p:spPr>
          <a:xfrm>
            <a:off x="6300216" y="1600200"/>
            <a:ext cx="640080" cy="640080"/>
          </a:xfrm>
          <a:prstGeom prst="ellipse">
            <a:avLst/>
          </a:prstGeom>
          <a:solidFill>
            <a:srgbClr val="13897F"/>
          </a:solidFill>
          <a:ln w="12700">
            <a:solidFill>
              <a:srgbClr val="13897F"/>
            </a:solidFill>
            <a:prstDash val="solid"/>
          </a:ln>
        </p:spPr>
      </p:sp>
      <p:pic>
        <p:nvPicPr>
          <p:cNvPr id="15" name="icon-FaClipboard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236" y="17602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0216" y="2423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auditable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300216" y="283464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query, denial and role change goes into a hash-chained log admins can verify.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Architecture at a glance</a:t>
            </a:r>
            <a:endParaRPr lang="en-US" sz="3000" dirty="0"/>
          </a:p>
        </p:txBody>
      </p:sp>
      <p:sp>
        <p:nvSpPr>
          <p:cNvPr id="3" name="node"/>
          <p:cNvSpPr/>
          <p:nvPr/>
        </p:nvSpPr>
        <p:spPr>
          <a:xfrm>
            <a:off x="457200" y="201168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0E2A2F"/>
          </a:solidFill>
          <a:ln w="12700">
            <a:solidFill>
              <a:srgbClr val="0E2A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2011680"/>
            <a:ext cx="13716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Browser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React + Ant Design</a:t>
            </a:r>
            <a:endParaRPr lang="en-US" sz="1400" dirty="0"/>
          </a:p>
        </p:txBody>
      </p:sp>
      <p:sp>
        <p:nvSpPr>
          <p:cNvPr id="5" name="node"/>
          <p:cNvSpPr/>
          <p:nvPr/>
        </p:nvSpPr>
        <p:spPr>
          <a:xfrm>
            <a:off x="2194560" y="201168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13897F"/>
          </a:solidFill>
          <a:ln w="12700">
            <a:solidFill>
              <a:srgbClr val="13897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194560" y="2011680"/>
            <a:ext cx="13716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FastAPI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JWT auth</a:t>
            </a:r>
            <a:endParaRPr lang="en-US" sz="1400" dirty="0"/>
          </a:p>
        </p:txBody>
      </p:sp>
      <p:sp>
        <p:nvSpPr>
          <p:cNvPr id="7" name="node"/>
          <p:cNvSpPr/>
          <p:nvPr/>
        </p:nvSpPr>
        <p:spPr>
          <a:xfrm>
            <a:off x="3931920" y="201168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931920" y="2011680"/>
            <a:ext cx="16459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2F"/>
                </a:solidFill>
              </a:rPr>
              <a:t>Retrieval + gate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B2F"/>
                </a:solidFill>
              </a:rPr>
              <a:t>allow / deny</a:t>
            </a:r>
            <a:endParaRPr lang="en-US" sz="1400" dirty="0"/>
          </a:p>
        </p:txBody>
      </p:sp>
      <p:sp>
        <p:nvSpPr>
          <p:cNvPr id="9" name="node"/>
          <p:cNvSpPr/>
          <p:nvPr/>
        </p:nvSpPr>
        <p:spPr>
          <a:xfrm>
            <a:off x="5943600" y="201168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0E2A2F"/>
          </a:solidFill>
          <a:ln w="12700">
            <a:solidFill>
              <a:srgbClr val="0E2A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943600" y="2011680"/>
            <a:ext cx="12801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LLM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hy3 · Ollama · Claude</a:t>
            </a:r>
            <a:endParaRPr lang="en-US" sz="1400" dirty="0"/>
          </a:p>
        </p:txBody>
      </p:sp>
      <p:sp>
        <p:nvSpPr>
          <p:cNvPr id="11" name="node"/>
          <p:cNvSpPr/>
          <p:nvPr/>
        </p:nvSpPr>
        <p:spPr>
          <a:xfrm>
            <a:off x="2194560" y="86868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194560" y="868680"/>
            <a:ext cx="1371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2F"/>
                </a:solidFill>
              </a:rPr>
              <a:t>RBAC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B2F"/>
                </a:solidFill>
              </a:rPr>
              <a:t>Redis cache</a:t>
            </a:r>
            <a:endParaRPr lang="en-US" sz="1400" dirty="0"/>
          </a:p>
        </p:txBody>
      </p:sp>
      <p:sp>
        <p:nvSpPr>
          <p:cNvPr id="13" name="node"/>
          <p:cNvSpPr/>
          <p:nvPr/>
        </p:nvSpPr>
        <p:spPr>
          <a:xfrm>
            <a:off x="3931920" y="86868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931920" y="868680"/>
            <a:ext cx="16459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2F"/>
                </a:solidFill>
              </a:rPr>
              <a:t>Embeddings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B2F"/>
                </a:solidFill>
              </a:rPr>
              <a:t>Qwen3-0.6B local</a:t>
            </a:r>
            <a:endParaRPr lang="en-US" sz="1400" dirty="0"/>
          </a:p>
        </p:txBody>
      </p:sp>
      <p:sp>
        <p:nvSpPr>
          <p:cNvPr id="15" name="node"/>
          <p:cNvSpPr/>
          <p:nvPr/>
        </p:nvSpPr>
        <p:spPr>
          <a:xfrm>
            <a:off x="3931920" y="347472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931920" y="3474720"/>
            <a:ext cx="16459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2F"/>
                </a:solidFill>
              </a:rPr>
              <a:t>Qdrant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B2F"/>
                </a:solidFill>
              </a:rPr>
              <a:t>vector store</a:t>
            </a:r>
            <a:endParaRPr lang="en-US" sz="1400" dirty="0"/>
          </a:p>
        </p:txBody>
      </p:sp>
      <p:sp>
        <p:nvSpPr>
          <p:cNvPr id="17" name="node"/>
          <p:cNvSpPr/>
          <p:nvPr/>
        </p:nvSpPr>
        <p:spPr>
          <a:xfrm>
            <a:off x="2194560" y="347472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2194560" y="3474720"/>
            <a:ext cx="1371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2F"/>
                </a:solidFill>
              </a:rPr>
              <a:t>PostgreSQL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B2F"/>
                </a:solidFill>
              </a:rPr>
              <a:t>users · audit chain</a:t>
            </a:r>
            <a:endParaRPr lang="en-US" sz="1400" dirty="0"/>
          </a:p>
        </p:txBody>
      </p:sp>
      <p:sp>
        <p:nvSpPr>
          <p:cNvPr id="19" name="node"/>
          <p:cNvSpPr/>
          <p:nvPr/>
        </p:nvSpPr>
        <p:spPr>
          <a:xfrm>
            <a:off x="7498080" y="201168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13897F"/>
          </a:solidFill>
          <a:ln w="12700">
            <a:solidFill>
              <a:srgbClr val="13897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498080" y="2011680"/>
            <a:ext cx="1188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SSE stream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answer + sources</a:t>
            </a:r>
            <a:endParaRPr lang="en-US" sz="1400" dirty="0"/>
          </a:p>
        </p:txBody>
      </p:sp>
      <p:sp>
        <p:nvSpPr>
          <p:cNvPr id="21" name="arrow"/>
          <p:cNvSpPr/>
          <p:nvPr/>
        </p:nvSpPr>
        <p:spPr>
          <a:xfrm>
            <a:off x="1828800" y="2468880"/>
            <a:ext cx="365760" cy="0"/>
          </a:xfrm>
          <a:prstGeom prst="line">
            <a:avLst/>
          </a:prstGeom>
          <a:noFill/>
          <a:ln w="22225">
            <a:solidFill>
              <a:srgbClr val="6B7F83"/>
            </a:solidFill>
            <a:prstDash val="solid"/>
            <a:tailEnd type="triangle"/>
          </a:ln>
        </p:spPr>
      </p:sp>
      <p:sp>
        <p:nvSpPr>
          <p:cNvPr id="22" name="arrow"/>
          <p:cNvSpPr/>
          <p:nvPr/>
        </p:nvSpPr>
        <p:spPr>
          <a:xfrm>
            <a:off x="3566160" y="2468880"/>
            <a:ext cx="365760" cy="0"/>
          </a:xfrm>
          <a:prstGeom prst="line">
            <a:avLst/>
          </a:prstGeom>
          <a:noFill/>
          <a:ln w="22225">
            <a:solidFill>
              <a:srgbClr val="6B7F83"/>
            </a:solidFill>
            <a:prstDash val="solid"/>
            <a:tailEnd type="triangle"/>
          </a:ln>
        </p:spPr>
      </p:sp>
      <p:sp>
        <p:nvSpPr>
          <p:cNvPr id="23" name="arrow"/>
          <p:cNvSpPr/>
          <p:nvPr/>
        </p:nvSpPr>
        <p:spPr>
          <a:xfrm>
            <a:off x="5577840" y="2468880"/>
            <a:ext cx="365760" cy="0"/>
          </a:xfrm>
          <a:prstGeom prst="line">
            <a:avLst/>
          </a:prstGeom>
          <a:noFill/>
          <a:ln w="22225">
            <a:solidFill>
              <a:srgbClr val="6B7F83"/>
            </a:solidFill>
            <a:prstDash val="solid"/>
            <a:tailEnd type="triangle"/>
          </a:ln>
        </p:spPr>
      </p:sp>
      <p:sp>
        <p:nvSpPr>
          <p:cNvPr id="24" name="arrow"/>
          <p:cNvSpPr/>
          <p:nvPr/>
        </p:nvSpPr>
        <p:spPr>
          <a:xfrm>
            <a:off x="7223760" y="2468880"/>
            <a:ext cx="274320" cy="0"/>
          </a:xfrm>
          <a:prstGeom prst="line">
            <a:avLst/>
          </a:prstGeom>
          <a:noFill/>
          <a:ln w="22225">
            <a:solidFill>
              <a:srgbClr val="6B7F83"/>
            </a:solidFill>
            <a:prstDash val="solid"/>
            <a:tailEnd type="triangle"/>
          </a:ln>
        </p:spPr>
      </p:sp>
      <p:sp>
        <p:nvSpPr>
          <p:cNvPr id="25" name="arrow"/>
          <p:cNvSpPr/>
          <p:nvPr/>
        </p:nvSpPr>
        <p:spPr>
          <a:xfrm>
            <a:off x="2880360" y="1600200"/>
            <a:ext cx="0" cy="411480"/>
          </a:xfrm>
          <a:prstGeom prst="line">
            <a:avLst/>
          </a:prstGeom>
          <a:noFill/>
          <a:ln w="22225">
            <a:solidFill>
              <a:srgbClr val="6B7F83"/>
            </a:solidFill>
            <a:prstDash val="solid"/>
            <a:tailEnd type="triangle"/>
          </a:ln>
        </p:spPr>
      </p:sp>
      <p:sp>
        <p:nvSpPr>
          <p:cNvPr id="26" name="arrow"/>
          <p:cNvSpPr/>
          <p:nvPr/>
        </p:nvSpPr>
        <p:spPr>
          <a:xfrm>
            <a:off x="4754880" y="1600200"/>
            <a:ext cx="0" cy="411480"/>
          </a:xfrm>
          <a:prstGeom prst="line">
            <a:avLst/>
          </a:prstGeom>
          <a:noFill/>
          <a:ln w="22225">
            <a:solidFill>
              <a:srgbClr val="6B7F83"/>
            </a:solidFill>
            <a:prstDash val="solid"/>
            <a:tailEnd type="triangle"/>
          </a:ln>
        </p:spPr>
      </p:sp>
      <p:sp>
        <p:nvSpPr>
          <p:cNvPr id="27" name="arrow"/>
          <p:cNvSpPr/>
          <p:nvPr/>
        </p:nvSpPr>
        <p:spPr>
          <a:xfrm flipV="1">
            <a:off x="4754880" y="2926080"/>
            <a:ext cx="0" cy="548640"/>
          </a:xfrm>
          <a:prstGeom prst="line">
            <a:avLst/>
          </a:prstGeom>
          <a:noFill/>
          <a:ln w="22225">
            <a:solidFill>
              <a:srgbClr val="6B7F83"/>
            </a:solidFill>
            <a:prstDash val="solid"/>
            <a:tailEnd type="triangle"/>
          </a:ln>
        </p:spPr>
      </p:sp>
      <p:sp>
        <p:nvSpPr>
          <p:cNvPr id="28" name="arrow"/>
          <p:cNvSpPr/>
          <p:nvPr/>
        </p:nvSpPr>
        <p:spPr>
          <a:xfrm flipV="1">
            <a:off x="2880360" y="2926080"/>
            <a:ext cx="0" cy="548640"/>
          </a:xfrm>
          <a:prstGeom prst="line">
            <a:avLst/>
          </a:prstGeom>
          <a:noFill/>
          <a:ln w="22225">
            <a:solidFill>
              <a:srgbClr val="6B7F83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5852160" y="34290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F83"/>
                </a:solidFill>
              </a:rPr>
              <a:t>Denied content never enters the model context — there is no path for the model to be talked into revealing 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permission model</a:t>
            </a:r>
            <a:endParaRPr lang="en-US" sz="3000" dirty="0"/>
          </a:p>
        </p:txBody>
      </p:sp>
      <p:sp>
        <p:nvSpPr>
          <p:cNvPr id="3" name="formula"/>
          <p:cNvSpPr/>
          <p:nvPr/>
        </p:nvSpPr>
        <p:spPr>
          <a:xfrm>
            <a:off x="457200" y="11887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E2A2F"/>
          </a:solidFill>
          <a:ln w="12700">
            <a:solidFill>
              <a:srgbClr val="0E2A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allowed_roles ∩ user_roles ≠ ∅   ∧   required_clearance ≤ clearance   ∧   compartments ⊆ user_compartments</a:t>
            </a:r>
            <a:endParaRPr lang="en-US" sz="1500" dirty="0"/>
          </a:p>
        </p:txBody>
      </p:sp>
      <p:sp>
        <p:nvSpPr>
          <p:cNvPr id="5" name="step-num"/>
          <p:cNvSpPr/>
          <p:nvPr/>
        </p:nvSpPr>
        <p:spPr>
          <a:xfrm>
            <a:off x="457200" y="2423160"/>
            <a:ext cx="502920" cy="50292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B2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Effective roles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4747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Permanent roles plus unexpired temporary / project roles</a:t>
            </a:r>
            <a:endParaRPr lang="en-US" sz="1300" dirty="0"/>
          </a:p>
        </p:txBody>
      </p:sp>
      <p:sp>
        <p:nvSpPr>
          <p:cNvPr id="9" name="step-num"/>
          <p:cNvSpPr/>
          <p:nvPr/>
        </p:nvSpPr>
        <p:spPr>
          <a:xfrm>
            <a:off x="2560320" y="2423160"/>
            <a:ext cx="502920" cy="50292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B2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pre-filter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34747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Role, clearance and not-archived filters applied inside Qdrant</a:t>
            </a:r>
            <a:endParaRPr lang="en-US" sz="1300" dirty="0"/>
          </a:p>
        </p:txBody>
      </p:sp>
      <p:sp>
        <p:nvSpPr>
          <p:cNvPr id="13" name="step-num"/>
          <p:cNvSpPr/>
          <p:nvPr/>
        </p:nvSpPr>
        <p:spPr>
          <a:xfrm>
            <a:off x="4663440" y="2423160"/>
            <a:ext cx="502920" cy="50292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B2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check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4747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Application-layer compartment check shared by every backend</a:t>
            </a:r>
            <a:endParaRPr lang="en-US" sz="1300" dirty="0"/>
          </a:p>
        </p:txBody>
      </p:sp>
      <p:sp>
        <p:nvSpPr>
          <p:cNvPr id="17" name="step-num"/>
          <p:cNvSpPr/>
          <p:nvPr/>
        </p:nvSpPr>
        <p:spPr>
          <a:xfrm>
            <a:off x="6766560" y="2423160"/>
            <a:ext cx="502920" cy="50292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6656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B2F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denial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34747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Only “insufficient permission” — no title, no ID leaked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From question to cited answer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260604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bg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13897F"/>
          </a:solidFill>
          <a:ln w="12700">
            <a:solidFill>
              <a:srgbClr val="13897F"/>
            </a:solidFill>
            <a:prstDash val="solid"/>
          </a:ln>
        </p:spPr>
      </p:sp>
      <p:pic>
        <p:nvPicPr>
          <p:cNvPr id="5" name="icon-FaFileAl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54305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57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PDF, Word, Excel, PPT, Markdown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3264408" y="1234440"/>
            <a:ext cx="260604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-bg"/>
          <p:cNvSpPr/>
          <p:nvPr/>
        </p:nvSpPr>
        <p:spPr>
          <a:xfrm>
            <a:off x="3447288" y="1417320"/>
            <a:ext cx="502920" cy="502920"/>
          </a:xfrm>
          <a:prstGeom prst="ellipse">
            <a:avLst/>
          </a:prstGeom>
          <a:solidFill>
            <a:srgbClr val="13897F"/>
          </a:solidFill>
          <a:ln w="12700">
            <a:solidFill>
              <a:srgbClr val="13897F"/>
            </a:solidFill>
            <a:prstDash val="solid"/>
          </a:ln>
        </p:spPr>
      </p:sp>
      <p:pic>
        <p:nvPicPr>
          <p:cNvPr id="10" name="icon-FaCu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018" y="154305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87368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447288" y="2057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Section-aware, ~800 chars; tables ~1500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6071616" y="1234440"/>
            <a:ext cx="260604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-bg"/>
          <p:cNvSpPr/>
          <p:nvPr/>
        </p:nvSpPr>
        <p:spPr>
          <a:xfrm>
            <a:off x="6254496" y="1417320"/>
            <a:ext cx="502920" cy="502920"/>
          </a:xfrm>
          <a:prstGeom prst="ellipse">
            <a:avLst/>
          </a:prstGeom>
          <a:solidFill>
            <a:srgbClr val="13897F"/>
          </a:solidFill>
          <a:ln w="12700">
            <a:solidFill>
              <a:srgbClr val="13897F"/>
            </a:solidFill>
            <a:prstDash val="solid"/>
          </a:ln>
        </p:spPr>
      </p:sp>
      <p:pic>
        <p:nvPicPr>
          <p:cNvPr id="15" name="icon-FaProjectDiagram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226" y="154305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94576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254496" y="2057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Qwen3-Embedding-0.6B, 1024-dim, cached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457200" y="2971800"/>
            <a:ext cx="260604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-bg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13897F"/>
          </a:solidFill>
          <a:ln w="12700">
            <a:solidFill>
              <a:srgbClr val="13897F"/>
            </a:solidFill>
            <a:prstDash val="solid"/>
          </a:ln>
        </p:spPr>
      </p:sp>
      <p:pic>
        <p:nvPicPr>
          <p:cNvPr id="20" name="icon-FaSearc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" y="328041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0160" y="3154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794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Top 10 candidates, relevance gate, serve 5</a:t>
            </a:r>
            <a:endParaRPr lang="en-US" sz="1300" dirty="0"/>
          </a:p>
        </p:txBody>
      </p:sp>
      <p:sp>
        <p:nvSpPr>
          <p:cNvPr id="23" name="card"/>
          <p:cNvSpPr/>
          <p:nvPr/>
        </p:nvSpPr>
        <p:spPr>
          <a:xfrm>
            <a:off x="3264408" y="2971800"/>
            <a:ext cx="260604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icon-bg"/>
          <p:cNvSpPr/>
          <p:nvPr/>
        </p:nvSpPr>
        <p:spPr>
          <a:xfrm>
            <a:off x="3447288" y="3154680"/>
            <a:ext cx="502920" cy="502920"/>
          </a:xfrm>
          <a:prstGeom prst="ellipse">
            <a:avLst/>
          </a:prstGeom>
          <a:solidFill>
            <a:srgbClr val="13897F"/>
          </a:solidFill>
          <a:ln w="12700">
            <a:solidFill>
              <a:srgbClr val="13897F"/>
            </a:solidFill>
            <a:prstDash val="solid"/>
          </a:ln>
        </p:spPr>
      </p:sp>
      <p:pic>
        <p:nvPicPr>
          <p:cNvPr id="25" name="icon-FaRobot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3018" y="3280410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87368" y="3154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3447288" y="3794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Retrieved text treated as untrusted data</a:t>
            </a:r>
            <a:endParaRPr lang="en-US" sz="1300" dirty="0"/>
          </a:p>
        </p:txBody>
      </p:sp>
      <p:sp>
        <p:nvSpPr>
          <p:cNvPr id="28" name="card"/>
          <p:cNvSpPr/>
          <p:nvPr/>
        </p:nvSpPr>
        <p:spPr>
          <a:xfrm>
            <a:off x="6071616" y="2971800"/>
            <a:ext cx="260604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icon-bg"/>
          <p:cNvSpPr/>
          <p:nvPr/>
        </p:nvSpPr>
        <p:spPr>
          <a:xfrm>
            <a:off x="6254496" y="3154680"/>
            <a:ext cx="502920" cy="502920"/>
          </a:xfrm>
          <a:prstGeom prst="ellipse">
            <a:avLst/>
          </a:prstGeom>
          <a:solidFill>
            <a:srgbClr val="13897F"/>
          </a:solidFill>
          <a:ln w="12700">
            <a:solidFill>
              <a:srgbClr val="13897F"/>
            </a:solidFill>
            <a:prstDash val="solid"/>
          </a:ln>
        </p:spPr>
      </p:sp>
      <p:pic>
        <p:nvPicPr>
          <p:cNvPr id="30" name="icon-FaStream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0226" y="3280410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94576" y="3154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6254496" y="3794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SSE: meta → delta → done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How each answer is judged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F83"/>
                </a:solidFill>
              </a:rPr>
              <a:t>Wording only — authorization itself never depends on this step or on the model.</a:t>
            </a:r>
            <a:endParaRPr lang="en-US" sz="1400" dirty="0"/>
          </a:p>
        </p:txBody>
      </p:sp>
      <p:sp>
        <p:nvSpPr>
          <p:cNvPr id="4" name="row"/>
          <p:cNvSpPr/>
          <p:nvPr/>
        </p:nvSpPr>
        <p:spPr>
          <a:xfrm>
            <a:off x="457200" y="1508760"/>
            <a:ext cx="8229600" cy="60350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Relevant chunks in scope, no clearly better restricted match</a:t>
            </a:r>
            <a:endParaRPr lang="en-US" sz="1300" dirty="0"/>
          </a:p>
        </p:txBody>
      </p:sp>
      <p:sp>
        <p:nvSpPr>
          <p:cNvPr id="6" name="badge"/>
          <p:cNvSpPr/>
          <p:nvPr/>
        </p:nvSpPr>
        <p:spPr>
          <a:xfrm>
            <a:off x="5303520" y="1636776"/>
            <a:ext cx="868680" cy="347472"/>
          </a:xfrm>
          <a:prstGeom prst="roundRect">
            <a:avLst>
              <a:gd name="adj" fmla="val 26316"/>
            </a:avLst>
          </a:prstGeom>
          <a:solidFill>
            <a:srgbClr val="13897F"/>
          </a:solidFill>
          <a:ln w="12700">
            <a:solidFill>
              <a:srgbClr val="13897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0" y="163677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ALLOW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508760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Generate answer with sources</a:t>
            </a:r>
            <a:endParaRPr lang="en-US" sz="1300" dirty="0"/>
          </a:p>
        </p:txBody>
      </p:sp>
      <p:sp>
        <p:nvSpPr>
          <p:cNvPr id="9" name="row"/>
          <p:cNvSpPr/>
          <p:nvPr/>
        </p:nvSpPr>
        <p:spPr>
          <a:xfrm>
            <a:off x="457200" y="2221992"/>
            <a:ext cx="8229600" cy="60350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221992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Weak in-scope match; unrestricted best match higher by ≥ 0.15</a:t>
            </a:r>
            <a:endParaRPr lang="en-US" sz="1300" dirty="0"/>
          </a:p>
        </p:txBody>
      </p:sp>
      <p:sp>
        <p:nvSpPr>
          <p:cNvPr id="11" name="badge"/>
          <p:cNvSpPr/>
          <p:nvPr/>
        </p:nvSpPr>
        <p:spPr>
          <a:xfrm>
            <a:off x="5303520" y="2350008"/>
            <a:ext cx="868680" cy="347472"/>
          </a:xfrm>
          <a:prstGeom prst="roundRect">
            <a:avLst>
              <a:gd name="adj" fmla="val 26316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03520" y="235000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DENY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22199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real answer is restricted</a:t>
            </a:r>
            <a:endParaRPr lang="en-US" sz="1300" dirty="0"/>
          </a:p>
        </p:txBody>
      </p:sp>
      <p:sp>
        <p:nvSpPr>
          <p:cNvPr id="14" name="row"/>
          <p:cNvSpPr/>
          <p:nvPr/>
        </p:nvSpPr>
        <p:spPr>
          <a:xfrm>
            <a:off x="457200" y="2935224"/>
            <a:ext cx="8229600" cy="60350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35224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Nothing relevant in scope, but relevant documents exist</a:t>
            </a:r>
            <a:endParaRPr lang="en-US" sz="1300" dirty="0"/>
          </a:p>
        </p:txBody>
      </p:sp>
      <p:sp>
        <p:nvSpPr>
          <p:cNvPr id="16" name="badge"/>
          <p:cNvSpPr/>
          <p:nvPr/>
        </p:nvSpPr>
        <p:spPr>
          <a:xfrm>
            <a:off x="5303520" y="3063240"/>
            <a:ext cx="868680" cy="347472"/>
          </a:xfrm>
          <a:prstGeom prst="roundRect">
            <a:avLst>
              <a:gd name="adj" fmla="val 26316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3520" y="306324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DENY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2935224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Restricted content exists</a:t>
            </a:r>
            <a:endParaRPr lang="en-US" sz="1300" dirty="0"/>
          </a:p>
        </p:txBody>
      </p:sp>
      <p:sp>
        <p:nvSpPr>
          <p:cNvPr id="19" name="row"/>
          <p:cNvSpPr/>
          <p:nvPr/>
        </p:nvSpPr>
        <p:spPr>
          <a:xfrm>
            <a:off x="457200" y="3648456"/>
            <a:ext cx="8229600" cy="60350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648456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Nothing relevant anywhere in the knowledge base</a:t>
            </a:r>
            <a:endParaRPr lang="en-US" sz="1300" dirty="0"/>
          </a:p>
        </p:txBody>
      </p:sp>
      <p:sp>
        <p:nvSpPr>
          <p:cNvPr id="21" name="badge"/>
          <p:cNvSpPr/>
          <p:nvPr/>
        </p:nvSpPr>
        <p:spPr>
          <a:xfrm>
            <a:off x="5303520" y="3776472"/>
            <a:ext cx="868680" cy="347472"/>
          </a:xfrm>
          <a:prstGeom prst="roundRect">
            <a:avLst>
              <a:gd name="adj" fmla="val 26316"/>
            </a:avLst>
          </a:prstGeom>
          <a:solidFill>
            <a:srgbClr val="13897F"/>
          </a:solidFill>
          <a:ln w="12700">
            <a:solidFill>
              <a:srgbClr val="13897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03520" y="377647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ALLOW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364845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“No relevant content found”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Governance and audit</a:t>
            </a:r>
            <a:endParaRPr lang="en-US" sz="3000" dirty="0"/>
          </a:p>
        </p:txBody>
      </p:sp>
      <p:sp>
        <p:nvSpPr>
          <p:cNvPr id="3" name="icon-bg"/>
          <p:cNvSpPr/>
          <p:nvPr/>
        </p:nvSpPr>
        <p:spPr>
          <a:xfrm>
            <a:off x="457200" y="1280160"/>
            <a:ext cx="640080" cy="640080"/>
          </a:xfrm>
          <a:prstGeom prst="ellipse">
            <a:avLst/>
          </a:prstGeom>
          <a:solidFill>
            <a:srgbClr val="0E2A2F"/>
          </a:solidFill>
          <a:ln w="12700">
            <a:solidFill>
              <a:srgbClr val="0E2A2F"/>
            </a:solidFill>
            <a:prstDash val="solid"/>
          </a:ln>
        </p:spPr>
      </p:sp>
      <p:pic>
        <p:nvPicPr>
          <p:cNvPr id="4" name="icon-FaUserClo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144018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Temporary roles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691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Admin grant, project membership (auto grant / revoke) or request-and-approve. Takes effect immediately.</a:t>
            </a:r>
            <a:endParaRPr lang="en-US" sz="1300" dirty="0"/>
          </a:p>
        </p:txBody>
      </p:sp>
      <p:sp>
        <p:nvSpPr>
          <p:cNvPr id="7" name="icon-bg"/>
          <p:cNvSpPr/>
          <p:nvPr/>
        </p:nvSpPr>
        <p:spPr>
          <a:xfrm>
            <a:off x="4663440" y="1280160"/>
            <a:ext cx="640080" cy="640080"/>
          </a:xfrm>
          <a:prstGeom prst="ellipse">
            <a:avLst/>
          </a:prstGeom>
          <a:solidFill>
            <a:srgbClr val="0E2A2F"/>
          </a:solidFill>
          <a:ln w="12700">
            <a:solidFill>
              <a:srgbClr val="0E2A2F"/>
            </a:solidFill>
            <a:prstDash val="solid"/>
          </a:ln>
        </p:spPr>
      </p:sp>
      <p:pic>
        <p:nvPicPr>
          <p:cNvPr id="8" name="icon-FaArchiv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460" y="14401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control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0" y="1691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Archived document versions stay in the library but are never cited.</a:t>
            </a:r>
            <a:endParaRPr lang="en-US" sz="1300" dirty="0"/>
          </a:p>
        </p:txBody>
      </p:sp>
      <p:sp>
        <p:nvSpPr>
          <p:cNvPr id="11" name="icon-bg"/>
          <p:cNvSpPr/>
          <p:nvPr/>
        </p:nvSpPr>
        <p:spPr>
          <a:xfrm>
            <a:off x="457200" y="2880360"/>
            <a:ext cx="640080" cy="640080"/>
          </a:xfrm>
          <a:prstGeom prst="ellipse">
            <a:avLst/>
          </a:prstGeom>
          <a:solidFill>
            <a:srgbClr val="0E2A2F"/>
          </a:solidFill>
          <a:ln w="12700">
            <a:solidFill>
              <a:srgbClr val="0E2A2F"/>
            </a:solidFill>
            <a:prstDash val="solid"/>
          </a:ln>
        </p:spPr>
      </p:sp>
      <p:pic>
        <p:nvPicPr>
          <p:cNvPr id="12" name="icon-FaLin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30403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Hash-chained audit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280160" y="32918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Queries, denials, logins and role changes appended; chain verifiable; CSV / JSON export.</a:t>
            </a:r>
            <a:endParaRPr lang="en-US" sz="1300" dirty="0"/>
          </a:p>
        </p:txBody>
      </p:sp>
      <p:sp>
        <p:nvSpPr>
          <p:cNvPr id="15" name="icon-bg"/>
          <p:cNvSpPr/>
          <p:nvPr/>
        </p:nvSpPr>
        <p:spPr>
          <a:xfrm>
            <a:off x="4663440" y="2880360"/>
            <a:ext cx="640080" cy="640080"/>
          </a:xfrm>
          <a:prstGeom prst="ellipse">
            <a:avLst/>
          </a:prstGeom>
          <a:solidFill>
            <a:srgbClr val="0E2A2F"/>
          </a:solidFill>
          <a:ln w="12700">
            <a:solidFill>
              <a:srgbClr val="0E2A2F"/>
            </a:solidFill>
            <a:prstDash val="solid"/>
          </a:ln>
        </p:spPr>
      </p:sp>
      <p:pic>
        <p:nvPicPr>
          <p:cNvPr id="16" name="icon-FaChartBar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460" y="30403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8640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5486400" y="32918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Query volume, denial rate and over-reach alerts. Admin manages access but cannot read business content.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the audit log in plain English</a:t>
            </a:r>
            <a:endParaRPr lang="en-US" sz="3000" dirty="0"/>
          </a:p>
        </p:txBody>
      </p:sp>
      <p:sp>
        <p:nvSpPr>
          <p:cNvPr id="3" name="quote"/>
          <p:cNvSpPr/>
          <p:nvPr/>
        </p:nvSpPr>
        <p:spPr>
          <a:xfrm>
            <a:off x="548640" y="137160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13897F"/>
          </a:solidFill>
          <a:ln w="12700">
            <a:solidFill>
              <a:srgbClr val="13897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“Who tried to read compensation documents last week without access?”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E6E4"/>
                </a:solidFill>
              </a:rPr>
              <a:t>The WorkBuddy agent composes read-only MCP tools to investigate and answer.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118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</a:rPr>
              <a:t>Blocked documents are visible to auditors only — never in any user-facing response.</a:t>
            </a:r>
            <a:endParaRPr lang="en-US" sz="1400" dirty="0"/>
          </a:p>
        </p:txBody>
      </p:sp>
      <p:sp>
        <p:nvSpPr>
          <p:cNvPr id="7" name="tool"/>
          <p:cNvSpPr/>
          <p:nvPr/>
        </p:nvSpPr>
        <p:spPr>
          <a:xfrm>
            <a:off x="4846320" y="1371600"/>
            <a:ext cx="3749040" cy="530352"/>
          </a:xfrm>
          <a:prstGeom prst="rect">
            <a:avLst/>
          </a:prstGeom>
          <a:solidFill>
            <a:srgbClr val="17404A"/>
          </a:solidFill>
          <a:ln w="12700">
            <a:solidFill>
              <a:srgbClr val="1740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83480" y="137160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B8AE"/>
                </a:solidFill>
              </a:rPr>
              <a:t>audit_summary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5E6E4"/>
                </a:solidFill>
              </a:rPr>
              <a:t>Counts by user, day, verdict, blocked doc</a:t>
            </a:r>
            <a:endParaRPr lang="en-US" sz="1300" dirty="0"/>
          </a:p>
        </p:txBody>
      </p:sp>
      <p:sp>
        <p:nvSpPr>
          <p:cNvPr id="9" name="tool"/>
          <p:cNvSpPr/>
          <p:nvPr/>
        </p:nvSpPr>
        <p:spPr>
          <a:xfrm>
            <a:off x="4846320" y="1993392"/>
            <a:ext cx="3749040" cy="530352"/>
          </a:xfrm>
          <a:prstGeom prst="rect">
            <a:avLst/>
          </a:prstGeom>
          <a:solidFill>
            <a:srgbClr val="17404A"/>
          </a:solidFill>
          <a:ln w="12700">
            <a:solidFill>
              <a:srgbClr val="1740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83480" y="1993392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B8AE"/>
                </a:solidFill>
              </a:rPr>
              <a:t>search_audit_logs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5E6E4"/>
                </a:solidFill>
              </a:rPr>
              <a:t>Filter by keyword, user, verdict, window</a:t>
            </a:r>
            <a:endParaRPr lang="en-US" sz="1300" dirty="0"/>
          </a:p>
        </p:txBody>
      </p:sp>
      <p:sp>
        <p:nvSpPr>
          <p:cNvPr id="11" name="tool"/>
          <p:cNvSpPr/>
          <p:nvPr/>
        </p:nvSpPr>
        <p:spPr>
          <a:xfrm>
            <a:off x="4846320" y="2615184"/>
            <a:ext cx="3749040" cy="530352"/>
          </a:xfrm>
          <a:prstGeom prst="rect">
            <a:avLst/>
          </a:prstGeom>
          <a:solidFill>
            <a:srgbClr val="17404A"/>
          </a:solidFill>
          <a:ln w="12700">
            <a:solidFill>
              <a:srgbClr val="1740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83480" y="2615184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B8AE"/>
                </a:solidFill>
              </a:rPr>
              <a:t>find_documents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5E6E4"/>
                </a:solidFill>
              </a:rPr>
              <a:t>Resolve titles to doc IDs</a:t>
            </a:r>
            <a:endParaRPr lang="en-US" sz="1300" dirty="0"/>
          </a:p>
        </p:txBody>
      </p:sp>
      <p:sp>
        <p:nvSpPr>
          <p:cNvPr id="13" name="tool"/>
          <p:cNvSpPr/>
          <p:nvPr/>
        </p:nvSpPr>
        <p:spPr>
          <a:xfrm>
            <a:off x="4846320" y="3236976"/>
            <a:ext cx="3749040" cy="530352"/>
          </a:xfrm>
          <a:prstGeom prst="rect">
            <a:avLst/>
          </a:prstGeom>
          <a:solidFill>
            <a:srgbClr val="17404A"/>
          </a:solidFill>
          <a:ln w="12700">
            <a:solidFill>
              <a:srgbClr val="1740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83480" y="3236976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B8AE"/>
                </a:solidFill>
              </a:rPr>
              <a:t>verify_audit_chain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5E6E4"/>
                </a:solidFill>
              </a:rPr>
              <a:t>Check hash-chain integrity</a:t>
            </a:r>
            <a:endParaRPr lang="en-US" sz="1300" dirty="0"/>
          </a:p>
        </p:txBody>
      </p:sp>
      <p:sp>
        <p:nvSpPr>
          <p:cNvPr id="15" name="tool"/>
          <p:cNvSpPr/>
          <p:nvPr/>
        </p:nvSpPr>
        <p:spPr>
          <a:xfrm>
            <a:off x="4846320" y="3858768"/>
            <a:ext cx="3749040" cy="530352"/>
          </a:xfrm>
          <a:prstGeom prst="rect">
            <a:avLst/>
          </a:prstGeom>
          <a:solidFill>
            <a:srgbClr val="17404A"/>
          </a:solidFill>
          <a:ln w="12700">
            <a:solidFill>
              <a:srgbClr val="1740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83480" y="385876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B8AE"/>
                </a:solidFill>
              </a:rPr>
              <a:t>get_current_time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5E6E4"/>
                </a:solidFill>
              </a:rPr>
              <a:t>UTC / Singapore time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B8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Measured, not assumed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389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11887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answer in LLM context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317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389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23317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allow-decision accuracy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4747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389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34747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restricted facts exposed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83"/>
                </a:solidFill>
              </a:rPr>
              <a:t>152 questions (108 answerable, 38 restricted, 6 off-topic), Chinese and English</a:t>
            </a:r>
            <a:endParaRPr lang="en-US" sz="11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297680" y="1097280"/>
          <a:ext cx="43891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Pluggable by configuration</a:t>
            </a:r>
            <a:endParaRPr lang="en-US" sz="3000" dirty="0"/>
          </a:p>
        </p:txBody>
      </p:sp>
      <p:sp>
        <p:nvSpPr>
          <p:cNvPr id="3" name="label"/>
          <p:cNvSpPr/>
          <p:nvPr/>
        </p:nvSpPr>
        <p:spPr>
          <a:xfrm>
            <a:off x="457200" y="1234440"/>
            <a:ext cx="1737360" cy="621792"/>
          </a:xfrm>
          <a:prstGeom prst="rect">
            <a:avLst/>
          </a:prstGeom>
          <a:solidFill>
            <a:srgbClr val="0E2A2F"/>
          </a:solidFill>
          <a:ln w="12700">
            <a:solidFill>
              <a:srgbClr val="0E2A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LLM</a:t>
            </a:r>
            <a:endParaRPr lang="en-US" sz="1500" dirty="0"/>
          </a:p>
        </p:txBody>
      </p:sp>
      <p:sp>
        <p:nvSpPr>
          <p:cNvPr id="5" name="value"/>
          <p:cNvSpPr/>
          <p:nvPr/>
        </p:nvSpPr>
        <p:spPr>
          <a:xfrm>
            <a:off x="2194560" y="1234440"/>
            <a:ext cx="3657600" cy="6217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331720" y="12344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hy3 via TokenHub · Ollama · Claude · DeepSeek · mock</a:t>
            </a:r>
            <a:endParaRPr lang="en-US" sz="1300" dirty="0"/>
          </a:p>
        </p:txBody>
      </p:sp>
      <p:sp>
        <p:nvSpPr>
          <p:cNvPr id="7" name="label"/>
          <p:cNvSpPr/>
          <p:nvPr/>
        </p:nvSpPr>
        <p:spPr>
          <a:xfrm>
            <a:off x="457200" y="1984248"/>
            <a:ext cx="1737360" cy="621792"/>
          </a:xfrm>
          <a:prstGeom prst="rect">
            <a:avLst/>
          </a:prstGeom>
          <a:solidFill>
            <a:srgbClr val="0E2A2F"/>
          </a:solidFill>
          <a:ln w="12700">
            <a:solidFill>
              <a:srgbClr val="0E2A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98424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Embedding</a:t>
            </a:r>
            <a:endParaRPr lang="en-US" sz="1500" dirty="0"/>
          </a:p>
        </p:txBody>
      </p:sp>
      <p:sp>
        <p:nvSpPr>
          <p:cNvPr id="9" name="value"/>
          <p:cNvSpPr/>
          <p:nvPr/>
        </p:nvSpPr>
        <p:spPr>
          <a:xfrm>
            <a:off x="2194560" y="1984248"/>
            <a:ext cx="3657600" cy="6217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31720" y="198424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Local Qwen3 · Hunyuan · mock</a:t>
            </a:r>
            <a:endParaRPr lang="en-US" sz="1300" dirty="0"/>
          </a:p>
        </p:txBody>
      </p:sp>
      <p:sp>
        <p:nvSpPr>
          <p:cNvPr id="11" name="label"/>
          <p:cNvSpPr/>
          <p:nvPr/>
        </p:nvSpPr>
        <p:spPr>
          <a:xfrm>
            <a:off x="457200" y="2734056"/>
            <a:ext cx="1737360" cy="621792"/>
          </a:xfrm>
          <a:prstGeom prst="rect">
            <a:avLst/>
          </a:prstGeom>
          <a:solidFill>
            <a:srgbClr val="0E2A2F"/>
          </a:solidFill>
          <a:ln w="12700">
            <a:solidFill>
              <a:srgbClr val="0E2A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734056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Vector store</a:t>
            </a:r>
            <a:endParaRPr lang="en-US" sz="1500" dirty="0"/>
          </a:p>
        </p:txBody>
      </p:sp>
      <p:sp>
        <p:nvSpPr>
          <p:cNvPr id="13" name="value"/>
          <p:cNvSpPr/>
          <p:nvPr/>
        </p:nvSpPr>
        <p:spPr>
          <a:xfrm>
            <a:off x="2194560" y="2734056"/>
            <a:ext cx="3657600" cy="6217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31720" y="2734056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Qdrant · Tencent VectorDB</a:t>
            </a:r>
            <a:endParaRPr lang="en-US" sz="1300" dirty="0"/>
          </a:p>
        </p:txBody>
      </p:sp>
      <p:sp>
        <p:nvSpPr>
          <p:cNvPr id="15" name="label"/>
          <p:cNvSpPr/>
          <p:nvPr/>
        </p:nvSpPr>
        <p:spPr>
          <a:xfrm>
            <a:off x="457200" y="3483864"/>
            <a:ext cx="1737360" cy="621792"/>
          </a:xfrm>
          <a:prstGeom prst="rect">
            <a:avLst/>
          </a:prstGeom>
          <a:solidFill>
            <a:srgbClr val="0E2A2F"/>
          </a:solidFill>
          <a:ln w="12700">
            <a:solidFill>
              <a:srgbClr val="0E2A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483864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OCR</a:t>
            </a:r>
            <a:endParaRPr lang="en-US" sz="1500" dirty="0"/>
          </a:p>
        </p:txBody>
      </p:sp>
      <p:sp>
        <p:nvSpPr>
          <p:cNvPr id="17" name="value"/>
          <p:cNvSpPr/>
          <p:nvPr/>
        </p:nvSpPr>
        <p:spPr>
          <a:xfrm>
            <a:off x="2194560" y="3483864"/>
            <a:ext cx="3657600" cy="6217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31720" y="348386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Tesseract · Tencent OCR</a:t>
            </a:r>
            <a:endParaRPr lang="en-US" sz="1300" dirty="0"/>
          </a:p>
        </p:txBody>
      </p:sp>
      <p:sp>
        <p:nvSpPr>
          <p:cNvPr id="19" name="deploy"/>
          <p:cNvSpPr/>
          <p:nvPr/>
        </p:nvSpPr>
        <p:spPr>
          <a:xfrm>
            <a:off x="6217920" y="1234440"/>
            <a:ext cx="2468880" cy="2871216"/>
          </a:xfrm>
          <a:prstGeom prst="roundRect">
            <a:avLst>
              <a:gd name="adj" fmla="val 2963"/>
            </a:avLst>
          </a:prstGeom>
          <a:solidFill>
            <a:srgbClr val="13897F"/>
          </a:solidFill>
          <a:ln w="12700">
            <a:solidFill>
              <a:srgbClr val="13897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00800" y="1371600"/>
            <a:ext cx="21031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One-command deploy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Docker Compose runs Postgres, Redis, Qdrant, backend and two frontends. start.sh migrates and seeds on first run.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Demo dataset</a:t>
            </a:r>
            <a:endParaRPr lang="en-US" sz="3000" dirty="0"/>
          </a:p>
        </p:txBody>
      </p:sp>
      <p:sp>
        <p:nvSpPr>
          <p:cNvPr id="3" name="stat"/>
          <p:cNvSpPr/>
          <p:nvPr/>
        </p:nvSpPr>
        <p:spPr>
          <a:xfrm>
            <a:off x="457200" y="1234440"/>
            <a:ext cx="192024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389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SSO personas</a:t>
            </a:r>
            <a:endParaRPr lang="en-US" sz="1300" dirty="0"/>
          </a:p>
        </p:txBody>
      </p:sp>
      <p:sp>
        <p:nvSpPr>
          <p:cNvPr id="6" name="stat"/>
          <p:cNvSpPr/>
          <p:nvPr/>
        </p:nvSpPr>
        <p:spPr>
          <a:xfrm>
            <a:off x="2560320" y="1234440"/>
            <a:ext cx="192024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2801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389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fictional documents</a:t>
            </a:r>
            <a:endParaRPr lang="en-US" sz="1300" dirty="0"/>
          </a:p>
        </p:txBody>
      </p:sp>
      <p:sp>
        <p:nvSpPr>
          <p:cNvPr id="9" name="stat"/>
          <p:cNvSpPr/>
          <p:nvPr/>
        </p:nvSpPr>
        <p:spPr>
          <a:xfrm>
            <a:off x="4663440" y="1234440"/>
            <a:ext cx="192024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2801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389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348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indexed chunks</a:t>
            </a:r>
            <a:endParaRPr lang="en-US" sz="1300" dirty="0"/>
          </a:p>
        </p:txBody>
      </p:sp>
      <p:sp>
        <p:nvSpPr>
          <p:cNvPr id="12" name="stat"/>
          <p:cNvSpPr/>
          <p:nvPr/>
        </p:nvSpPr>
        <p:spPr>
          <a:xfrm>
            <a:off x="6766560" y="1234440"/>
            <a:ext cx="192024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2801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389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clearance levels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9260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Departments from compliance to the board, in PDF, Word, Excel, PPT and Markdown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Deliberate test fixtures: an archived KYC policy v2 and a vendor press release with a prompt-injection line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persona × question matrix asserts every citation is in scope and not archived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05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is built into retrieval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8803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5E6E4"/>
                </a:solidFill>
              </a:rPr>
              <a:t>Permissions apply before the model sees any text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337560" y="2377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3337560" y="28803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5E6E4"/>
                </a:solidFill>
              </a:rPr>
              <a:t>Every answer shows its sources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2377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8803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5E6E4"/>
                </a:solidFill>
              </a:rPr>
              <a:t>Every action lives in a verifiable audit chain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B8AE"/>
                </a:solidFill>
              </a:rPr>
              <a:t>Thank you · Questions?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B8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spire Brain">
  <a:themeElements>
    <a:clrScheme name="Aspire Brain">
      <a:dk1>
        <a:srgbClr val="1A2B2F"/>
      </a:dk1>
      <a:lt1>
        <a:srgbClr val="FFFFFF"/>
      </a:lt1>
      <a:dk2>
        <a:srgbClr val="0E2A2F"/>
      </a:dk2>
      <a:lt2>
        <a:srgbClr val="EAF3F2"/>
      </a:lt2>
      <a:accent1>
        <a:srgbClr val="13897F"/>
      </a:accent1>
      <a:accent2>
        <a:srgbClr val="F2A93B"/>
      </a:accent2>
      <a:accent3>
        <a:srgbClr val="5FB8AE"/>
      </a:accent3>
      <a:accent4>
        <a:srgbClr val="C8553D"/>
      </a:accent4>
      <a:accent5>
        <a:srgbClr val="6B7F83"/>
      </a:accent5>
      <a:accent6>
        <a:srgbClr val="2F5D62"/>
      </a:accent6>
      <a:hlink>
        <a:srgbClr val="13897F"/>
      </a:hlink>
      <a:folHlink>
        <a:srgbClr val="6B7F83"/>
      </a:folHlink>
    </a:clrScheme>
    <a:fontScheme name="Aspire Brai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Aspire Internal Brain</dc:title>
  <dc:subject>PptxGenJS Presentation</dc:subject>
  <dc:creator>PptxGenJS</dc:creator>
  <cp:lastModifiedBy>PptxGenJS</cp:lastModifiedBy>
  <cp:revision>1</cp:revision>
  <dcterms:created xsi:type="dcterms:W3CDTF">2026-10-15T08:40:47Z</dcterms:created>
  <dcterms:modified xsi:type="dcterms:W3CDTF">2026-10-15T08:40:47Z</dcterms:modified>
</cp:coreProperties>
</file>